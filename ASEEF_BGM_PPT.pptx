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36" autoAdjust="0"/>
  </p:normalViewPr>
  <p:slideViewPr>
    <p:cSldViewPr snapToGrid="0" snapToObjects="1">
      <p:cViewPr varScale="1">
        <p:scale>
          <a:sx n="71" d="100"/>
          <a:sy n="71" d="100"/>
        </p:scale>
        <p:origin x="103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fif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fif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B08ECD0-CA4C-ED88-41D7-8AD6C9F9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EEB54A"/>
                </a:solidFill>
                <a:latin typeface="Aptos"/>
              </a:defRPr>
            </a:pPr>
            <a:r>
              <a:t>A quick visual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149" y="1101595"/>
            <a:ext cx="8635702" cy="114492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200" b="1">
                <a:solidFill>
                  <a:srgbClr val="EEB54A"/>
                </a:solidFill>
                <a:latin typeface="Aptos"/>
              </a:defRPr>
            </a:pPr>
            <a:r>
              <a:rPr sz="7200" dirty="0">
                <a:solidFill>
                  <a:schemeClr val="bg1"/>
                </a:solidFill>
                <a:latin typeface="Century" panose="02040604050505020304" pitchFamily="18" charset="0"/>
              </a:rPr>
              <a:t>BELAGAVI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0649" y="929240"/>
            <a:ext cx="4804635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0">
                <a:solidFill>
                  <a:srgbClr val="CDD8E2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Karnataka,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2549" y="2127760"/>
            <a:ext cx="6806902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rPr lang="en-IN" sz="2800" b="1" dirty="0">
                <a:solidFill>
                  <a:schemeClr val="bg1"/>
                </a:solidFill>
              </a:rPr>
              <a:t>History • Nature • Industry • Culture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075C7-1348-EAD5-1AC2-2960B1ADE697}"/>
              </a:ext>
            </a:extLst>
          </p:cNvPr>
          <p:cNvSpPr txBox="1"/>
          <p:nvPr/>
        </p:nvSpPr>
        <p:spPr>
          <a:xfrm>
            <a:off x="8556812" y="5441454"/>
            <a:ext cx="62017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</a:rPr>
              <a:t>Presented BY: ASEEF PINJAR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rPr lang="en-IN" dirty="0" err="1">
                <a:solidFill>
                  <a:schemeClr val="bg1"/>
                </a:solidFill>
              </a:rPr>
              <a:t>Sub:cGAPP</a:t>
            </a:r>
            <a:r>
              <a:rPr lang="en-IN" dirty="0">
                <a:solidFill>
                  <a:schemeClr val="bg1"/>
                </a:solidFill>
              </a:rPr>
              <a:t> BAE QM Nalanda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400" dirty="0" err="1"/>
              <a:t>Belagavi</a:t>
            </a:r>
            <a:r>
              <a:rPr sz="1400" dirty="0"/>
              <a:t>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04403"/>
            <a:ext cx="5577840" cy="5213735"/>
          </a:xfrm>
          <a:prstGeom prst="rect">
            <a:avLst/>
          </a:prstGeom>
          <a:noFill/>
        </p:spPr>
        <p:txBody>
          <a:bodyPr wrap="square" lIns="27432" tIns="27432" rIns="73152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Located in northwestern Karnataka.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Near the borders of Maharashtra and Goa.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Formerly known as Belgaum.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Historical name: </a:t>
            </a:r>
            <a:r>
              <a:rPr dirty="0" err="1"/>
              <a:t>Venugrama</a:t>
            </a:r>
            <a:r>
              <a:rPr dirty="0"/>
              <a:t> — “Bamboo Village”.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IN" dirty="0" err="1"/>
              <a:t>Belagavi</a:t>
            </a:r>
            <a:r>
              <a:rPr lang="en-IN" dirty="0"/>
              <a:t> is one of the largest districts in Karnataka by area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Area: about 13,400 km²; population: 47.8 lakh (2011 Census).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Education: </a:t>
            </a:r>
            <a:r>
              <a:rPr lang="en-IN" dirty="0" err="1"/>
              <a:t>Visvesvaraya</a:t>
            </a:r>
            <a:r>
              <a:rPr lang="en-IN" dirty="0"/>
              <a:t> Technological University (VTU), which affiliates engineering colleges across Karnataka, is headquartered in </a:t>
            </a:r>
            <a:r>
              <a:rPr lang="en-IN" dirty="0" err="1"/>
              <a:t>Belagavi</a:t>
            </a:r>
            <a:r>
              <a:rPr lang="en-IN" dirty="0"/>
              <a:t>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75120" y="6126480"/>
            <a:ext cx="47548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EEB54A"/>
                </a:solidFill>
                <a:latin typeface="Aptos"/>
              </a:defRPr>
            </a:pPr>
            <a:r>
              <a:rPr sz="1400"/>
              <a:t>A meeting point of landscapes and cultures</a:t>
            </a:r>
          </a:p>
        </p:txBody>
      </p:sp>
      <p:pic>
        <p:nvPicPr>
          <p:cNvPr id="9" name="Picture 8" descr="_crop_image2_jp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941832"/>
            <a:ext cx="4800600" cy="4986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37641" y="2228392"/>
            <a:ext cx="1260988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</a:rPr>
              <a:t>BELAGAVI </a:t>
            </a:r>
            <a:endParaRPr sz="1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9672" y="1304403"/>
            <a:ext cx="1699754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IN" sz="1400" b="1" dirty="0">
                <a:solidFill>
                  <a:schemeClr val="bg2">
                    <a:lumMod val="10000"/>
                  </a:schemeClr>
                </a:solidFill>
                <a:latin typeface="Aptos"/>
              </a:rPr>
              <a:t>MAHARASHTRA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77" y="2730138"/>
            <a:ext cx="525043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400" b="1" dirty="0">
                <a:solidFill>
                  <a:schemeClr val="bg2">
                    <a:lumMod val="10000"/>
                  </a:schemeClr>
                </a:solidFill>
                <a:latin typeface="Aptos"/>
              </a:rPr>
              <a:t>GOA</a:t>
            </a:r>
            <a:endParaRPr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2. History &amp; Heritage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400" dirty="0"/>
              <a:t>A district with a long and layered past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6" name="Picture 5" descr="belagavi_queen.jpg"/>
          <p:cNvPicPr>
            <a:picLocks noChangeAspect="1"/>
          </p:cNvPicPr>
          <p:nvPr/>
        </p:nvPicPr>
        <p:blipFill>
          <a:blip r:embed="rId2"/>
          <a:srcRect t="3774" b="3774"/>
          <a:stretch>
            <a:fillRect/>
          </a:stretch>
        </p:blipFill>
        <p:spPr>
          <a:xfrm>
            <a:off x="561765" y="1371600"/>
            <a:ext cx="4806647" cy="2682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9592" y="1277760"/>
            <a:ext cx="5440680" cy="4990597"/>
          </a:xfrm>
          <a:prstGeom prst="rect">
            <a:avLst/>
          </a:prstGeom>
          <a:noFill/>
        </p:spPr>
        <p:txBody>
          <a:bodyPr wrap="square" lIns="27432" tIns="27432" rIns="73152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Over the centuries, the </a:t>
            </a:r>
            <a:r>
              <a:rPr lang="en-IN" sz="1600" dirty="0" err="1"/>
              <a:t>Belagavi</a:t>
            </a:r>
            <a:r>
              <a:rPr lang="en-IN" sz="1600" dirty="0"/>
              <a:t> region came under the control of several dynasties</a:t>
            </a:r>
            <a:endParaRPr lang="en-IN" sz="1600" dirty="0">
              <a:solidFill>
                <a:srgbClr val="FFFFFF"/>
              </a:solidFill>
              <a:latin typeface="Aptos"/>
            </a:endParaRP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sz="1600" dirty="0" err="1">
                <a:solidFill>
                  <a:srgbClr val="FFFFFF"/>
                </a:solidFill>
                <a:latin typeface="Aptos"/>
              </a:rPr>
              <a:t>Belagavi’s</a:t>
            </a:r>
            <a:r>
              <a:rPr sz="1600" dirty="0">
                <a:solidFill>
                  <a:srgbClr val="FFFFFF"/>
                </a:solidFill>
                <a:latin typeface="Aptos"/>
              </a:rPr>
              <a:t> history reaches back to at least the 2nd century AD.</a:t>
            </a:r>
            <a:endParaRPr lang="en-IN" sz="1600" dirty="0">
              <a:solidFill>
                <a:srgbClr val="FFFFFF"/>
              </a:solidFill>
              <a:latin typeface="Aptos"/>
            </a:endParaRP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>
                <a:solidFill>
                  <a:srgbClr val="FFFFFF"/>
                </a:solidFill>
                <a:latin typeface="Aptos"/>
              </a:rPr>
              <a:t>Belagavi Fort is associated with the Ratta rulers and later Bahamani dynasties.</a:t>
            </a:r>
            <a:endParaRPr sz="1600" dirty="0">
              <a:solidFill>
                <a:srgbClr val="FFFFFF"/>
              </a:solidFill>
              <a:latin typeface="Aptos"/>
            </a:endParaRP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sz="1600" dirty="0" err="1">
                <a:solidFill>
                  <a:srgbClr val="FFFFFF"/>
                </a:solidFill>
                <a:latin typeface="Aptos"/>
              </a:rPr>
              <a:t>Kittur</a:t>
            </a:r>
            <a:r>
              <a:rPr sz="1600" dirty="0">
                <a:solidFill>
                  <a:srgbClr val="FFFFFF"/>
                </a:solidFill>
                <a:latin typeface="Aptos"/>
              </a:rPr>
              <a:t> Rani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Chennamma</a:t>
            </a:r>
            <a:r>
              <a:rPr sz="1600" dirty="0">
                <a:solidFill>
                  <a:srgbClr val="FFFFFF"/>
                </a:solidFill>
                <a:latin typeface="Aptos"/>
              </a:rPr>
              <a:t> fought the British East India Company in 1824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 err="1"/>
              <a:t>Sangolli</a:t>
            </a:r>
            <a:r>
              <a:rPr lang="en-IN" sz="1600" dirty="0"/>
              <a:t> </a:t>
            </a:r>
            <a:r>
              <a:rPr lang="en-IN" sz="1600" dirty="0" err="1"/>
              <a:t>Rayanna</a:t>
            </a:r>
            <a:r>
              <a:rPr lang="en-IN" sz="1600" dirty="0"/>
              <a:t>(15 August 1796)  was a military commander and revolutionary who continued fighting British rule after </a:t>
            </a:r>
            <a:r>
              <a:rPr lang="en-IN" sz="1600" dirty="0" err="1"/>
              <a:t>Kittur</a:t>
            </a:r>
            <a:r>
              <a:rPr lang="en-IN" sz="1600" dirty="0"/>
              <a:t> Rani </a:t>
            </a:r>
            <a:r>
              <a:rPr lang="en-IN" sz="1600" dirty="0" err="1"/>
              <a:t>Chennamma's</a:t>
            </a:r>
            <a:r>
              <a:rPr lang="en-IN" sz="1600" dirty="0"/>
              <a:t> defeat. He was betrayed, captured, and publicly hanged at </a:t>
            </a:r>
            <a:r>
              <a:rPr lang="en-IN" sz="1600" dirty="0" err="1"/>
              <a:t>Nandagad</a:t>
            </a:r>
            <a:r>
              <a:rPr lang="en-IN" sz="1600" dirty="0"/>
              <a:t> on 26 January 1831. 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1924: The 39th session of the Indian National Congress took place in Belgaum, presided over by Mahatma Gandhi. It was the only Congress session he chaired</a:t>
            </a:r>
            <a:r>
              <a:rPr lang="en-IN" sz="1700" dirty="0"/>
              <a:t>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6376063"/>
            <a:ext cx="52120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EEB54A"/>
                </a:solidFill>
                <a:latin typeface="Aptos"/>
              </a:defRPr>
            </a:pPr>
            <a:r>
              <a:t>Remember: 1824 • Kittur • Freedom struggle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64" y="4175760"/>
            <a:ext cx="4806647" cy="2453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3. Geography &amp; Nature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030224"/>
            <a:ext cx="106984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400" dirty="0"/>
              <a:t>Rivers, waterfalls and the Western Ghats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0151"/>
            <a:ext cx="4754880" cy="4782848"/>
          </a:xfrm>
          <a:prstGeom prst="rect">
            <a:avLst/>
          </a:prstGeom>
          <a:noFill/>
        </p:spPr>
        <p:txBody>
          <a:bodyPr wrap="square" lIns="27432" tIns="27432" rIns="73152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sz="1600" dirty="0">
                <a:solidFill>
                  <a:srgbClr val="FFFFFF"/>
                </a:solidFill>
                <a:latin typeface="Aptos"/>
              </a:rPr>
              <a:t>Western areas are greener and generally receive more rainfall.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 err="1">
                <a:solidFill>
                  <a:srgbClr val="FFFFFF"/>
                </a:solidFill>
                <a:latin typeface="Aptos"/>
              </a:rPr>
              <a:t>Malenadu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(Hilly Region): The western part of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Belagavi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district, especially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Khanapur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, has hills, dense forests, heavy rainfall and rich biodiversity.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 err="1">
                <a:solidFill>
                  <a:srgbClr val="FFFFFF"/>
                </a:solidFill>
                <a:latin typeface="Aptos"/>
              </a:rPr>
              <a:t>Gadinaadu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(Transitional Region): The central belt has a mixture of rolling hills and plains, moderate rainfall and agriculture such as sugarcane and other crops</a:t>
            </a:r>
            <a:r>
              <a:rPr lang="en-IN" sz="1600" dirty="0"/>
              <a:t>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 err="1">
                <a:solidFill>
                  <a:srgbClr val="FFFFFF"/>
                </a:solidFill>
                <a:latin typeface="Aptos"/>
              </a:rPr>
              <a:t>Bayalunaadu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(Plains Region): The eastern part of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Belagavi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district has flatter land, relatively lower rainfall and extensive cultivation of crops such as sugarcane,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jowar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and pulses.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>
                <a:solidFill>
                  <a:srgbClr val="FFFFFF"/>
                </a:solidFill>
                <a:latin typeface="Aptos"/>
              </a:rPr>
              <a:t>Important rivers: Krishna,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Ghataprabha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and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Malaprabha</a:t>
            </a:r>
            <a:endParaRPr sz="160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E45B39-F47A-478C-DE90-119D5028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89865"/>
            <a:ext cx="5492994" cy="4426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/>
              <a:t>4. Economy &amp;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400" dirty="0"/>
              <a:t>Agriculture meets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1280" y="1116476"/>
            <a:ext cx="5532120" cy="5390706"/>
          </a:xfrm>
          <a:prstGeom prst="rect">
            <a:avLst/>
          </a:prstGeom>
          <a:noFill/>
        </p:spPr>
        <p:txBody>
          <a:bodyPr wrap="square" lIns="27432" tIns="27432" rIns="73152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Sugar factories support farming and local employment.</a:t>
            </a:r>
            <a:endParaRPr lang="en-IN" sz="1600" dirty="0"/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>
                <a:solidFill>
                  <a:srgbClr val="FFFFFF"/>
                </a:solidFill>
                <a:latin typeface="Aptos"/>
              </a:rPr>
              <a:t>24 sugar factories are noted by the </a:t>
            </a:r>
            <a:r>
              <a:rPr lang="en-IN" sz="1600" dirty="0" err="1">
                <a:solidFill>
                  <a:srgbClr val="FFFFFF"/>
                </a:solidFill>
                <a:latin typeface="Aptos"/>
              </a:rPr>
              <a:t>Belagavi</a:t>
            </a:r>
            <a:r>
              <a:rPr lang="en-IN" sz="1600" dirty="0">
                <a:solidFill>
                  <a:srgbClr val="FFFFFF"/>
                </a:solidFill>
                <a:latin typeface="Aptos"/>
              </a:rPr>
              <a:t> district administration.</a:t>
            </a:r>
            <a:endParaRPr sz="1600" dirty="0"/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sz="1600" dirty="0" err="1"/>
              <a:t>Belagavi</a:t>
            </a:r>
            <a:r>
              <a:rPr sz="1600" dirty="0"/>
              <a:t> is known for foundries and engineering components.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Manufacturing: The district has important foundry, automotive-component, engineering, and machine-tool </a:t>
            </a:r>
            <a:r>
              <a:rPr lang="en-IN" sz="1600" dirty="0" err="1"/>
              <a:t>industrie</a:t>
            </a:r>
            <a:r>
              <a:rPr sz="1600" dirty="0"/>
              <a:t>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Aerospace: </a:t>
            </a:r>
            <a:r>
              <a:rPr lang="en-IN" sz="1600" dirty="0" err="1"/>
              <a:t>Belagavi</a:t>
            </a:r>
            <a:r>
              <a:rPr lang="en-IN" sz="1600" dirty="0"/>
              <a:t> has an aerospace precision engineering and manufacturing special economic zone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Agriculture: Sugarcane is an important crop, supported by the region's sugar industry.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Transport: The city has its own airport and railway station, with road connections to major cities in Karnataka and </a:t>
            </a:r>
            <a:r>
              <a:rPr lang="en-IN" sz="1600" dirty="0" err="1"/>
              <a:t>neighboring</a:t>
            </a:r>
            <a:r>
              <a:rPr lang="en-IN" sz="1600" dirty="0"/>
              <a:t> states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FFFFFF"/>
                </a:solidFill>
                <a:latin typeface="Aptos"/>
              </a:defRPr>
            </a:pPr>
            <a:endParaRPr sz="1600" dirty="0"/>
          </a:p>
        </p:txBody>
      </p:sp>
      <p:pic>
        <p:nvPicPr>
          <p:cNvPr id="8" name="Picture 7" descr="_crop_image27_jpeg_0.76_2.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8" y="3859868"/>
            <a:ext cx="4995672" cy="2324824"/>
          </a:xfrm>
          <a:prstGeom prst="rect">
            <a:avLst/>
          </a:prstGeom>
        </p:spPr>
      </p:pic>
      <p:pic>
        <p:nvPicPr>
          <p:cNvPr id="10" name="Picture 9" descr="image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" y="1354018"/>
            <a:ext cx="4995672" cy="2325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5</a:t>
            </a:r>
            <a:r>
              <a:rPr dirty="0"/>
              <a:t>. </a:t>
            </a:r>
            <a:r>
              <a:rPr lang="en-IN" sz="2700" b="1" dirty="0"/>
              <a:t>Agriculture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600" dirty="0"/>
              <a:t>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1" name="Picture 10" descr="_crop_image23_png_6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712260"/>
            <a:ext cx="2956560" cy="2158700"/>
          </a:xfrm>
          <a:prstGeom prst="rect">
            <a:avLst/>
          </a:prstGeom>
        </p:spPr>
      </p:pic>
      <p:pic>
        <p:nvPicPr>
          <p:cNvPr id="12" name="Picture 11" descr="_crop_image24_jpeg_9.7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1712260"/>
            <a:ext cx="2956560" cy="2158700"/>
          </a:xfrm>
          <a:prstGeom prst="rect">
            <a:avLst/>
          </a:prstGeom>
        </p:spPr>
      </p:pic>
      <p:pic>
        <p:nvPicPr>
          <p:cNvPr id="13" name="Picture 12" descr="_crop_image20_jpeg_0.7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12260"/>
            <a:ext cx="2956560" cy="2158700"/>
          </a:xfrm>
          <a:prstGeom prst="rect">
            <a:avLst/>
          </a:prstGeom>
        </p:spPr>
      </p:pic>
      <p:pic>
        <p:nvPicPr>
          <p:cNvPr id="14" name="Picture 13" descr="_crop_image22_jpeg_3.7_2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712260"/>
            <a:ext cx="2651760" cy="2158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" y="4058174"/>
            <a:ext cx="11932920" cy="5069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/>
              <a:t>Major crops: Sugarcane, maize, </a:t>
            </a:r>
            <a:r>
              <a:rPr lang="en-IN" sz="1900" dirty="0" err="1"/>
              <a:t>jowar</a:t>
            </a:r>
            <a:r>
              <a:rPr lang="en-IN" sz="1900" dirty="0"/>
              <a:t>, paddy, pulses, soybean, cotton and oilseeds.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Horticulture: Mangoes, grapes, vegetables, onions, potatoes and chillies contribute to farm income.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Irrigation: The Krishna, </a:t>
            </a:r>
            <a:r>
              <a:rPr lang="en-IN" sz="1900" dirty="0" err="1">
                <a:solidFill>
                  <a:srgbClr val="CDD8E2"/>
                </a:solidFill>
                <a:latin typeface="Aptos"/>
              </a:rPr>
              <a:t>Ghataprabha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 and </a:t>
            </a:r>
            <a:r>
              <a:rPr lang="en-IN" sz="1900" dirty="0" err="1">
                <a:solidFill>
                  <a:srgbClr val="CDD8E2"/>
                </a:solidFill>
                <a:latin typeface="Aptos"/>
              </a:rPr>
              <a:t>Malaprabha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, </a:t>
            </a:r>
            <a:r>
              <a:rPr lang="en-IN" sz="1900" dirty="0" err="1"/>
              <a:t>Markandeya</a:t>
            </a:r>
            <a:r>
              <a:rPr lang="en-IN" sz="1900" dirty="0"/>
              <a:t>  River, </a:t>
            </a:r>
            <a:r>
              <a:rPr lang="en-IN" sz="1900" dirty="0" err="1"/>
              <a:t>Hiranyakeshi</a:t>
            </a:r>
            <a:r>
              <a:rPr lang="en-IN" sz="1900" dirty="0"/>
              <a:t>  River, </a:t>
            </a:r>
            <a:r>
              <a:rPr lang="en-IN" sz="1900" dirty="0" err="1"/>
              <a:t>Doodhaganga</a:t>
            </a:r>
            <a:r>
              <a:rPr lang="en-IN" sz="1900" dirty="0"/>
              <a:t>  River, </a:t>
            </a:r>
            <a:r>
              <a:rPr lang="en-IN" sz="1900" dirty="0" err="1"/>
              <a:t>Vedaganga</a:t>
            </a:r>
            <a:r>
              <a:rPr lang="en-IN" sz="1900" dirty="0"/>
              <a:t>  River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 river systems support agriculture, along with reservoirs, canals and groundwater.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Soils: Deep and medium black soils, red loamy soils and laterite soils support different crops across the district.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Livestock: Dairy farming, sheep and goat rearing provide additional income for rural households.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Economic importance: Sugarcane supports sugar mills, while other crops supply food markets and agro-processing industries.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r>
              <a:rPr lang="en-IN" sz="1900" dirty="0">
                <a:solidFill>
                  <a:srgbClr val="CDD8E2"/>
                </a:solidFill>
                <a:latin typeface="Aptos"/>
              </a:rPr>
              <a:t>Raja </a:t>
            </a:r>
            <a:r>
              <a:rPr lang="en-IN" sz="1900" dirty="0" err="1">
                <a:solidFill>
                  <a:srgbClr val="CDD8E2"/>
                </a:solidFill>
                <a:latin typeface="Aptos"/>
              </a:rPr>
              <a:t>Lakhamagouda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 Dam, </a:t>
            </a:r>
            <a:r>
              <a:rPr lang="en-IN" sz="1900" dirty="0" err="1">
                <a:solidFill>
                  <a:srgbClr val="CDD8E2"/>
                </a:solidFill>
                <a:latin typeface="Aptos"/>
              </a:rPr>
              <a:t>Rakaskop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 Reservoir Dam, </a:t>
            </a:r>
            <a:r>
              <a:rPr lang="en-IN" sz="1900" dirty="0" err="1">
                <a:solidFill>
                  <a:srgbClr val="CDD8E2"/>
                </a:solidFill>
                <a:latin typeface="Aptos"/>
              </a:rPr>
              <a:t>Naviluteertha</a:t>
            </a:r>
            <a:r>
              <a:rPr lang="en-IN" sz="1900" dirty="0">
                <a:solidFill>
                  <a:srgbClr val="CDD8E2"/>
                </a:solidFill>
                <a:latin typeface="Aptos"/>
              </a:rPr>
              <a:t> Dam</a:t>
            </a:r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600" dirty="0">
              <a:solidFill>
                <a:srgbClr val="CDD8E2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600" dirty="0">
              <a:solidFill>
                <a:srgbClr val="CDD8E2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endParaRPr lang="en-IN" dirty="0">
              <a:solidFill>
                <a:srgbClr val="CDD8E2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600" dirty="0">
              <a:solidFill>
                <a:srgbClr val="CDD8E2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600" dirty="0">
              <a:solidFill>
                <a:srgbClr val="CDD8E2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600" dirty="0">
              <a:solidFill>
                <a:srgbClr val="CDD8E2"/>
              </a:solidFill>
              <a:latin typeface="Aptos"/>
            </a:endParaRPr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200" dirty="0"/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200" dirty="0"/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200" dirty="0"/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lang="en-IN" sz="1200" dirty="0"/>
          </a:p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530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6</a:t>
            </a:r>
            <a:r>
              <a:rPr dirty="0"/>
              <a:t>. Places to Visit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12681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4165" y="942682"/>
            <a:ext cx="106984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rPr sz="1400" dirty="0"/>
              <a:t>Heritage, temples and natural beauty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721" y="3421626"/>
            <a:ext cx="2978100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EEB54A"/>
                </a:solidFill>
                <a:latin typeface="Aptos"/>
              </a:defRPr>
            </a:pPr>
            <a:r>
              <a:rPr sz="1400" b="1" dirty="0" err="1">
                <a:solidFill>
                  <a:srgbClr val="D4A64A"/>
                </a:solidFill>
                <a:latin typeface="Aptos"/>
              </a:rPr>
              <a:t>Belagavi</a:t>
            </a:r>
            <a:r>
              <a:rPr dirty="0"/>
              <a:t> </a:t>
            </a:r>
            <a:r>
              <a:rPr sz="1400" b="1" dirty="0">
                <a:solidFill>
                  <a:srgbClr val="D4A64A"/>
                </a:solidFill>
                <a:latin typeface="Aptos"/>
              </a:rPr>
              <a:t>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4" y="3699087"/>
            <a:ext cx="3848553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Historic fort with temples and mosques.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516" y="3441537"/>
            <a:ext cx="3392128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EEB54A"/>
                </a:solidFill>
                <a:latin typeface="Aptos"/>
              </a:defRPr>
            </a:pPr>
            <a:r>
              <a:rPr sz="1400" b="1" dirty="0">
                <a:solidFill>
                  <a:srgbClr val="D4A64A"/>
                </a:solidFill>
                <a:latin typeface="Aptos"/>
              </a:rPr>
              <a:t>Gokak Falls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4704" y="3672824"/>
            <a:ext cx="3959204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A dramatic waterfall on the </a:t>
            </a:r>
            <a:r>
              <a:rPr dirty="0" err="1"/>
              <a:t>Ghataprabha</a:t>
            </a:r>
            <a:r>
              <a:rPr dirty="0"/>
              <a:t> River.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825" y="3365016"/>
            <a:ext cx="315468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EEB54A"/>
                </a:solidFill>
                <a:latin typeface="Aptos"/>
              </a:defRPr>
            </a:pPr>
            <a:r>
              <a:rPr lang="en-IN" sz="1400" b="1" dirty="0">
                <a:solidFill>
                  <a:srgbClr val="D4A64A"/>
                </a:solidFill>
                <a:latin typeface="Aptos"/>
              </a:rPr>
              <a:t>Suvarna Vidhana </a:t>
            </a:r>
            <a:r>
              <a:rPr lang="en-IN" sz="1400" b="1" dirty="0" err="1">
                <a:solidFill>
                  <a:srgbClr val="D4A64A"/>
                </a:solidFill>
                <a:latin typeface="Aptos"/>
              </a:rPr>
              <a:t>Soudha</a:t>
            </a:r>
            <a:endParaRPr lang="en-IN" sz="1400" b="1" dirty="0">
              <a:solidFill>
                <a:srgbClr val="D4A64A"/>
              </a:solidFill>
              <a:latin typeface="Aptos"/>
            </a:endParaRPr>
          </a:p>
          <a:p>
            <a:pPr algn="ctr">
              <a:defRPr sz="1700" b="1">
                <a:solidFill>
                  <a:srgbClr val="EEB54A"/>
                </a:solidFill>
                <a:latin typeface="Aptos"/>
              </a:defRPr>
            </a:pPr>
            <a:endParaRPr sz="1400" b="1" dirty="0">
              <a:solidFill>
                <a:srgbClr val="D4A64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78749" y="3573154"/>
            <a:ext cx="4642691" cy="6832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lang="en-IN" sz="1400" b="1" dirty="0">
                <a:solidFill>
                  <a:srgbClr val="F7F7F2"/>
                </a:solidFill>
                <a:latin typeface="Aptos"/>
              </a:rPr>
              <a:t>11 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October 2012 </a:t>
            </a:r>
            <a:r>
              <a:rPr lang="en-US" sz="1400" dirty="0">
                <a:solidFill>
                  <a:srgbClr val="FFFFFF"/>
                </a:solidFill>
                <a:latin typeface="Aptos"/>
              </a:rPr>
              <a:t>Commemorates 50 years since the formation of Karnataka in 1956</a:t>
            </a:r>
            <a:r>
              <a:rPr lang="en-US" sz="1400" dirty="0">
                <a:solidFill>
                  <a:srgbClr val="C6CFDA"/>
                </a:solidFill>
                <a:latin typeface="Aptos"/>
              </a:rPr>
              <a:t>.</a:t>
            </a:r>
          </a:p>
          <a:p>
            <a:endParaRPr lang="en-IN" sz="1400" b="1" dirty="0">
              <a:solidFill>
                <a:srgbClr val="F7F7F2"/>
              </a:solidFill>
              <a:latin typeface="Aptos"/>
            </a:endParaRPr>
          </a:p>
        </p:txBody>
      </p:sp>
      <p:pic>
        <p:nvPicPr>
          <p:cNvPr id="16" name="Picture 15" descr="_crop_image34_png_0.7_2.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28" y="1246736"/>
            <a:ext cx="3738628" cy="2078334"/>
          </a:xfrm>
          <a:prstGeom prst="rect">
            <a:avLst/>
          </a:prstGeom>
        </p:spPr>
      </p:pic>
      <p:pic>
        <p:nvPicPr>
          <p:cNvPr id="17" name="Picture 16" descr="_crop_image33_jpeg_6.6_2.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07" y="4063340"/>
            <a:ext cx="3181928" cy="2206040"/>
          </a:xfrm>
          <a:prstGeom prst="rect">
            <a:avLst/>
          </a:prstGeom>
        </p:spPr>
      </p:pic>
      <p:pic>
        <p:nvPicPr>
          <p:cNvPr id="18" name="Picture 17" descr="_crop_image4_jpg_4.95_2.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79" y="1283329"/>
            <a:ext cx="3147656" cy="2069937"/>
          </a:xfrm>
          <a:prstGeom prst="rect">
            <a:avLst/>
          </a:prstGeom>
        </p:spPr>
      </p:pic>
      <p:pic>
        <p:nvPicPr>
          <p:cNvPr id="19" name="Picture 18" descr="_crop_image30_jpg_0.7_2.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1" y="4063340"/>
            <a:ext cx="3730128" cy="22060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E7F25A-1279-EF50-F7AD-5E13545B8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666" y="3996791"/>
            <a:ext cx="3730128" cy="22849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63250" y="6353294"/>
            <a:ext cx="4040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400" b="1" dirty="0">
                <a:solidFill>
                  <a:srgbClr val="D4A64A"/>
                </a:solidFill>
                <a:latin typeface="Aptos"/>
              </a:rPr>
              <a:t>SHRI</a:t>
            </a:r>
            <a:r>
              <a:rPr lang="it-IT" sz="14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400" b="1" dirty="0">
                <a:solidFill>
                  <a:srgbClr val="D4A64A"/>
                </a:solidFill>
                <a:latin typeface="Aptos"/>
              </a:rPr>
              <a:t>YELLAMMA</a:t>
            </a:r>
            <a:r>
              <a:rPr lang="it-IT" sz="14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400" b="1" dirty="0">
                <a:solidFill>
                  <a:srgbClr val="D4A64A"/>
                </a:solidFill>
                <a:latin typeface="Aptos"/>
              </a:rPr>
              <a:t>DEVI</a:t>
            </a:r>
            <a:r>
              <a:rPr lang="it-IT" sz="1400" b="1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it-IT" sz="1400" b="1" dirty="0">
                <a:solidFill>
                  <a:srgbClr val="D4A64A"/>
                </a:solidFill>
                <a:latin typeface="Aptos"/>
              </a:rPr>
              <a:t>TEMPLE</a:t>
            </a:r>
            <a:r>
              <a:rPr lang="it-IT" sz="1400" b="1" dirty="0">
                <a:solidFill>
                  <a:srgbClr val="FFC000"/>
                </a:solidFill>
                <a:latin typeface="Aptos" panose="020B0004020202020204" pitchFamily="34" charset="0"/>
              </a:rPr>
              <a:t>, </a:t>
            </a:r>
            <a:r>
              <a:rPr lang="it-IT" sz="1400" b="1" dirty="0">
                <a:solidFill>
                  <a:srgbClr val="D4A64A"/>
                </a:solidFill>
                <a:latin typeface="Aptos"/>
              </a:rPr>
              <a:t>SAUNDATTI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135" y="6322516"/>
            <a:ext cx="2746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D4A64A"/>
                </a:solidFill>
                <a:latin typeface="Aptos"/>
              </a:rPr>
              <a:t>GODACHINMALKI FALLS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321" y="6307456"/>
            <a:ext cx="15437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rgbClr val="D4A64A"/>
                </a:solidFill>
                <a:latin typeface="Aptos"/>
              </a:rPr>
              <a:t>KAMALA BASTI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8749" y="6537960"/>
            <a:ext cx="3303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rgbClr val="FFFFFF"/>
                </a:solidFill>
                <a:latin typeface="Aptos"/>
              </a:rPr>
              <a:t>1204 • late </a:t>
            </a:r>
            <a:r>
              <a:rPr lang="en-IN" sz="1400" dirty="0" err="1">
                <a:solidFill>
                  <a:srgbClr val="FFFFFF"/>
                </a:solidFill>
                <a:latin typeface="Aptos"/>
              </a:rPr>
              <a:t>Chalukyan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C168FF-2740-6931-8DAB-278743E3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749" y="1242832"/>
            <a:ext cx="3825530" cy="2078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8833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7</a:t>
            </a:r>
            <a:r>
              <a:rPr dirty="0"/>
              <a:t>. </a:t>
            </a:r>
            <a:r>
              <a:rPr lang="en-IN" sz="2700" b="1" dirty="0">
                <a:solidFill>
                  <a:srgbClr val="F4EFE0"/>
                </a:solidFill>
                <a:latin typeface="Aptos"/>
              </a:rPr>
              <a:t>Life in festivals</a:t>
            </a:r>
          </a:p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984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CDD8E2"/>
                </a:solidFill>
                <a:latin typeface="Aptos"/>
              </a:defRPr>
            </a:pPr>
            <a:r>
              <a:t>Heritage, temples and natural beauty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7" r="315" b="12499"/>
          <a:stretch/>
        </p:blipFill>
        <p:spPr>
          <a:xfrm>
            <a:off x="605028" y="1371600"/>
            <a:ext cx="11114532" cy="527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81360" y="6126480"/>
            <a:ext cx="51816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93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8</a:t>
            </a:r>
            <a:r>
              <a:rPr dirty="0"/>
              <a:t>. </a:t>
            </a:r>
            <a:r>
              <a:rPr lang="en-IN" sz="2700" b="1" dirty="0"/>
              <a:t>Food and Flavours of </a:t>
            </a:r>
            <a:r>
              <a:rPr lang="en-IN" sz="2700" b="1" dirty="0" err="1"/>
              <a:t>Belagavi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EE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EEB54A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8</a:t>
            </a: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404" y="1150620"/>
            <a:ext cx="3397875" cy="25374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150620"/>
            <a:ext cx="3707013" cy="2537460"/>
          </a:xfrm>
          <a:prstGeom prst="rect">
            <a:avLst/>
          </a:prstGeom>
        </p:spPr>
      </p:pic>
      <p:pic>
        <p:nvPicPr>
          <p:cNvPr id="11" name="Picture 10" descr="_crop_image18_png_6.859999999999999_2.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947" y="1150620"/>
            <a:ext cx="3707013" cy="2537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3753015"/>
            <a:ext cx="23317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dirty="0">
                <a:solidFill>
                  <a:srgbClr val="D4A64A"/>
                </a:solidFill>
                <a:latin typeface="Aptos"/>
              </a:rPr>
              <a:t>KUNDA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5430" y="3737775"/>
            <a:ext cx="23317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 dirty="0">
                <a:solidFill>
                  <a:srgbClr val="D4A64A"/>
                </a:solidFill>
                <a:latin typeface="Aptos"/>
              </a:rPr>
              <a:t>JOLADA ROTTI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3593" y="3686350"/>
            <a:ext cx="1641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rgbClr val="D4A64A"/>
                </a:solidFill>
                <a:latin typeface="Aptos"/>
              </a:rPr>
              <a:t>BRINJAL CURRY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4198584"/>
            <a:ext cx="3688725" cy="22479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515598" y="6538953"/>
            <a:ext cx="20505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rgbClr val="D4A64A"/>
                </a:solidFill>
                <a:latin typeface="Aptos"/>
              </a:rPr>
              <a:t>GOKAK KARADANTU</a:t>
            </a:r>
          </a:p>
        </p:txBody>
      </p:sp>
      <p:pic>
        <p:nvPicPr>
          <p:cNvPr id="18" name="Picture 17" descr="_crop_image19_jpg_9.91_2.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404" y="4155381"/>
            <a:ext cx="3397875" cy="229113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105352" y="6508175"/>
            <a:ext cx="23019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rgbClr val="D4A64A"/>
                </a:solidFill>
                <a:latin typeface="Aptos"/>
              </a:rPr>
              <a:t>BESAN WADE / JHUNKA</a:t>
            </a:r>
          </a:p>
        </p:txBody>
      </p:sp>
      <p:sp>
        <p:nvSpPr>
          <p:cNvPr id="6" name="Rectangle 5"/>
          <p:cNvSpPr/>
          <p:nvPr/>
        </p:nvSpPr>
        <p:spPr>
          <a:xfrm>
            <a:off x="8792961" y="6508174"/>
            <a:ext cx="2450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rgbClr val="D4A64A"/>
                </a:solidFill>
                <a:latin typeface="Aptos"/>
              </a:rPr>
              <a:t>WHOLE WHEAT PAYASAM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246" y="4155380"/>
            <a:ext cx="3695787" cy="22911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elagavi_ghats.jpg"/>
          <p:cNvPicPr>
            <a:picLocks noChangeAspect="1"/>
          </p:cNvPicPr>
          <p:nvPr/>
        </p:nvPicPr>
        <p:blipFill>
          <a:blip r:embed="rId2"/>
          <a:srcRect l="7800" r="7800"/>
          <a:stretch>
            <a:fillRect/>
          </a:stretch>
        </p:blipFill>
        <p:spPr>
          <a:xfrm>
            <a:off x="-10758" y="0"/>
            <a:ext cx="121889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3566" y="1515859"/>
            <a:ext cx="7100046" cy="86793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EEB54A"/>
                </a:solidFill>
                <a:latin typeface="Aptos"/>
              </a:defRPr>
            </a:pPr>
            <a:r>
              <a:rPr sz="5400" dirty="0"/>
              <a:t>BELAGAVI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32150" y="2265831"/>
            <a:ext cx="530352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A district of many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6330" y="2738243"/>
            <a:ext cx="8404411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900" b="0">
                <a:solidFill>
                  <a:srgbClr val="CDD8E2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History • Natural beauty • Agriculture • Industry • 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6189" y="3429000"/>
            <a:ext cx="4114800" cy="49859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000" b="1">
                <a:solidFill>
                  <a:srgbClr val="EEB54A"/>
                </a:solidFill>
                <a:latin typeface="Aptos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739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Belagavi District — A Visual Introduction</dc:title>
  <dc:subject>Short presentation on Belagavi district, Karnataka</dc:subject>
  <dc:creator>OpenAI</dc:creator>
  <dc:description>generated using python-pptx</dc:description>
  <cp:lastModifiedBy>pinjarasif260@gmail.com</cp:lastModifiedBy>
  <cp:revision>49</cp:revision>
  <dcterms:created xsi:type="dcterms:W3CDTF">2013-01-27T09:14:16Z</dcterms:created>
  <dcterms:modified xsi:type="dcterms:W3CDTF">2026-10-15T04:01:13Z</dcterms:modified>
</cp:coreProperties>
</file>