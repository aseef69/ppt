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image1_png_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943600" cy="5349240"/>
          </a:xfrm>
          <a:prstGeom prst="roundRect">
            <a:avLst/>
          </a:prstGeom>
          <a:solidFill>
            <a:srgbClr val="0E1622"/>
          </a:solidFill>
          <a:ln>
            <a:solidFill>
              <a:srgbClr val="0E1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5029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4EFE0"/>
                </a:solidFill>
                <a:latin typeface="Aptos"/>
              </a:rPr>
              <a:t>BELAGAVI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7F9FA"/>
                </a:solidFill>
                <a:latin typeface="Aptos"/>
              </a:rPr>
              <a:t>Where history meets
nature, culture &amp;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B7C1C9"/>
                </a:solidFill>
                <a:latin typeface="Aptos"/>
              </a:rPr>
              <a:t>A visual story of North Karnataka’s living 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1828800" cy="45720"/>
          </a:xfrm>
          <a:prstGeom prst="rect">
            <a:avLst/>
          </a:prstGeom>
          <a:solidFill>
            <a:srgbClr val="D4A64A"/>
          </a:solidFill>
          <a:ln>
            <a:solidFill>
              <a:srgbClr val="D4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12th-century fort heritage  •  52 m waterfall  •  diverse 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A64A"/>
                </a:solidFill>
                <a:latin typeface="Aptos"/>
              </a:rPr>
              <a:t>KARNATAKA •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9FA"/>
                </a:solidFill>
                <a:latin typeface="Apto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2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A city at a crossroads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Its position between Karnataka, Maharashtra and Goa helps shape a layered cultural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02 / 15</a:t>
            </a:r>
          </a:p>
        </p:txBody>
      </p:sp>
      <p:pic>
        <p:nvPicPr>
          <p:cNvPr id="6" name="Picture 5" descr="_crop_image2_jp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420624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874519"/>
            <a:ext cx="6355080" cy="416052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0" y="2148840"/>
            <a:ext cx="1417320" cy="502920"/>
          </a:xfrm>
          <a:prstGeom prst="roundRect">
            <a:avLst/>
          </a:prstGeom>
          <a:solidFill>
            <a:srgbClr val="47845C"/>
          </a:solidFill>
          <a:ln>
            <a:solidFill>
              <a:srgbClr val="478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2267712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7F9FA"/>
                </a:solidFill>
                <a:latin typeface="Aptos"/>
              </a:rPr>
              <a:t>KARNATAKA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30552"/>
            <a:ext cx="3749039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FE0"/>
                </a:solidFill>
                <a:latin typeface="Aptos"/>
              </a:rPr>
              <a:t>Kannada roots &amp; North Karnataka traditions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154680"/>
            <a:ext cx="1417320" cy="502920"/>
          </a:xfrm>
          <a:prstGeom prst="roundRect">
            <a:avLst/>
          </a:prstGeom>
          <a:solidFill>
            <a:srgbClr val="B14842"/>
          </a:solidFill>
          <a:ln>
            <a:solidFill>
              <a:srgbClr val="B14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3273552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7F9FA"/>
                </a:solidFill>
                <a:latin typeface="Aptos"/>
              </a:rPr>
              <a:t>MAHARASHTRA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136392"/>
            <a:ext cx="3749039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FE0"/>
                </a:solidFill>
                <a:latin typeface="Aptos"/>
              </a:rPr>
              <a:t>Strong Marathi cultural influence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160520"/>
            <a:ext cx="1417320" cy="502920"/>
          </a:xfrm>
          <a:prstGeom prst="roundRect">
            <a:avLst/>
          </a:prstGeom>
          <a:solidFill>
            <a:srgbClr val="427EA3"/>
          </a:solidFill>
          <a:ln>
            <a:solidFill>
              <a:srgbClr val="427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4279392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7F9FA"/>
                </a:solidFill>
                <a:latin typeface="Aptos"/>
              </a:rPr>
              <a:t>GOA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142232"/>
            <a:ext cx="3749039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FE0"/>
                </a:solidFill>
                <a:latin typeface="Aptos"/>
              </a:rPr>
              <a:t>Goan influence through the wider regional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16636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A64A"/>
                </a:solidFill>
                <a:latin typeface="Aptos"/>
              </a:rPr>
              <a:t>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010912"/>
            <a:ext cx="3749039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7F9FA"/>
                </a:solidFill>
                <a:latin typeface="Aptos"/>
              </a:rPr>
              <a:t>A city where languages, food, trade and everyday life reflect multiple regional influences.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3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ORIGINS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From Venugrama to Belagavi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The old name connects the place with bamboo and a long historical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38328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crop_image3_png_0.76_2.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53602"/>
            <a:ext cx="3108960" cy="34150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30727"/>
            <a:ext cx="31089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VENUGRAMA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13440"/>
            <a:ext cx="31089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 dirty="0">
                <a:solidFill>
                  <a:srgbClr val="B7C1C9"/>
                </a:solidFill>
                <a:latin typeface="Aptos"/>
              </a:rPr>
              <a:t>“Bamboo village”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65760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_crop_image1_png_4.76_2.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2148841"/>
            <a:ext cx="3078480" cy="32530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34840" y="5519928"/>
            <a:ext cx="33832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D4A64A"/>
                </a:solidFill>
                <a:latin typeface="Aptos"/>
              </a:rPr>
              <a:t>FORT 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5696859"/>
            <a:ext cx="33832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 dirty="0">
                <a:solidFill>
                  <a:srgbClr val="B7C1C9"/>
                </a:solidFill>
                <a:latin typeface="Aptos"/>
              </a:rPr>
              <a:t>Heritage at the heart of Belagavi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74519"/>
            <a:ext cx="3246120" cy="416052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2240280"/>
            <a:ext cx="2651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64A"/>
                </a:solidFill>
                <a:latin typeface="Aptos"/>
              </a:rPr>
              <a:t>VENUGRAMA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97480"/>
            <a:ext cx="25603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4EFE0"/>
                </a:solidFill>
                <a:latin typeface="Aptos"/>
              </a:rPr>
              <a:t>Venu = Bamboo
Grama = Village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749039"/>
            <a:ext cx="2560320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7F9FA"/>
                </a:solidFill>
                <a:latin typeface="Aptos"/>
              </a:rPr>
              <a:t>Historical references cited in the original presentation trace the region’s antiquity to around the 2nd century 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49240"/>
            <a:ext cx="25603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7C1C9"/>
                </a:solidFill>
                <a:latin typeface="Aptos"/>
              </a:rPr>
              <a:t>A name that hints at the landscape that shaped early settlement.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4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The fort that remembers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Belagavi Fort brings together layers of Deccan history, architecture and faith.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04 / 15</a:t>
            </a:r>
          </a:p>
        </p:txBody>
      </p:sp>
      <p:pic>
        <p:nvPicPr>
          <p:cNvPr id="6" name="Picture 5" descr="_crop_image1_png_0.7_2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45720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40680" y="1828800"/>
            <a:ext cx="6035040" cy="429768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219456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64A"/>
                </a:solidFill>
                <a:latin typeface="Aptos"/>
              </a:rPr>
              <a:t>12th century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606040"/>
            <a:ext cx="4389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4EFE0"/>
                </a:solidFill>
                <a:latin typeface="Aptos"/>
              </a:rPr>
              <a:t>Built by the Ratta rulers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246120"/>
            <a:ext cx="5166360" cy="2240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7F9FA"/>
                </a:solidFill>
                <a:latin typeface="Aptos"/>
              </a:defRPr>
            </a:pPr>
            <a:r>
              <a:t>• Later rulers added to and modified the fort over time.</a:t>
            </a:r>
          </a:p>
          <a:p>
            <a:pPr>
              <a:spcAft>
                <a:spcPts val="700"/>
              </a:spcAft>
              <a:defRPr sz="1400">
                <a:solidFill>
                  <a:srgbClr val="F7F9FA"/>
                </a:solidFill>
                <a:latin typeface="Aptos"/>
              </a:defRPr>
            </a:pPr>
            <a:r>
              <a:t>• Temples and mosques within the fort reflect the region’s layered heritage.</a:t>
            </a:r>
          </a:p>
          <a:p>
            <a:pPr>
              <a:spcAft>
                <a:spcPts val="700"/>
              </a:spcAft>
              <a:defRPr sz="1400">
                <a:solidFill>
                  <a:srgbClr val="F7F9FA"/>
                </a:solidFill>
                <a:latin typeface="Aptos"/>
              </a:defRPr>
            </a:pPr>
            <a:r>
              <a:t>• Safa Masjid is noted for its Deccan and Indo-Saracenic architectural features.</a:t>
            </a:r>
          </a:p>
          <a:p>
            <a:pPr>
              <a:spcAft>
                <a:spcPts val="700"/>
              </a:spcAft>
              <a:defRPr sz="1400">
                <a:solidFill>
                  <a:srgbClr val="F7F9FA"/>
                </a:solidFill>
                <a:latin typeface="Aptos"/>
              </a:defRPr>
            </a:pPr>
            <a:r>
              <a:t>• Kamala Basti, built in 1204 in late Chalukyan style, adds a Jain architectural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5623560"/>
            <a:ext cx="4937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64A"/>
                </a:solidFill>
                <a:latin typeface="Aptos"/>
              </a:rPr>
              <a:t>HERITAGE • ARCHITECTURE • COEXISTENCE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100" b="1" dirty="0">
                <a:solidFill>
                  <a:srgbClr val="E0B453"/>
                </a:solidFill>
                <a:latin typeface="Aptos"/>
              </a:rPr>
              <a:t>05</a:t>
            </a:r>
            <a:r>
              <a:rPr sz="1100" b="1" dirty="0">
                <a:solidFill>
                  <a:srgbClr val="E0B453"/>
                </a:solidFill>
                <a:latin typeface="Aptos"/>
              </a:rPr>
              <a:t> • LANDMARK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67665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7F7F2"/>
                </a:solidFill>
                <a:latin typeface="Aptos"/>
              </a:rPr>
              <a:t>Suvarna Vidhana Soudha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26464"/>
            <a:ext cx="64922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E0B453"/>
                </a:solidFill>
                <a:latin typeface="Aptos"/>
              </a:rPr>
              <a:t>A landmark of democracy in North Karnataka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4510"/>
            <a:ext cx="822960" cy="50292"/>
          </a:xfrm>
          <a:prstGeom prst="rect">
            <a:avLst/>
          </a:prstGeom>
          <a:solidFill>
            <a:srgbClr val="E0B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647" y="1884142"/>
            <a:ext cx="56692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F7F7F2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23024" y="388620"/>
            <a:ext cx="4617720" cy="5349240"/>
          </a:xfrm>
          <a:prstGeom prst="roundRect">
            <a:avLst/>
          </a:prstGeom>
          <a:solidFill>
            <a:srgbClr val="18273D"/>
          </a:solidFill>
          <a:ln w="13970">
            <a:solidFill>
              <a:srgbClr val="37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34504" y="1058164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0B453"/>
                </a:solidFill>
                <a:latin typeface="Aptos"/>
              </a:rPr>
              <a:t>WHY IT MATTERS</a:t>
            </a:r>
          </a:p>
        </p:txBody>
      </p:sp>
      <p:sp>
        <p:nvSpPr>
          <p:cNvPr id="9" name="Oval 8"/>
          <p:cNvSpPr/>
          <p:nvPr/>
        </p:nvSpPr>
        <p:spPr>
          <a:xfrm>
            <a:off x="7269480" y="1554480"/>
            <a:ext cx="420624" cy="420624"/>
          </a:xfrm>
          <a:prstGeom prst="ellipse">
            <a:avLst/>
          </a:prstGeom>
          <a:solidFill>
            <a:srgbClr val="E0B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E182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545336"/>
            <a:ext cx="3246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7F2"/>
                </a:solidFill>
                <a:latin typeface="Aptos"/>
              </a:rPr>
              <a:t>A second legislative 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874519"/>
            <a:ext cx="3246120" cy="714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100" b="0" dirty="0">
                <a:solidFill>
                  <a:srgbClr val="C6CFDA"/>
                </a:solidFill>
                <a:latin typeface="Aptos"/>
              </a:rPr>
              <a:t>Brings important state legislative proceedings to Belagavi.</a:t>
            </a:r>
            <a:r>
              <a:rPr lang="en-US" sz="1100" dirty="0">
                <a:solidFill>
                  <a:srgbClr val="F7F7F2"/>
                </a:solidFill>
                <a:latin typeface="Aptos"/>
              </a:rPr>
              <a:t> it serves as an important venue for sessions of the Karnataka Legislature, including its winter session.</a:t>
            </a:r>
            <a:endParaRPr sz="1100" b="0" dirty="0">
              <a:solidFill>
                <a:srgbClr val="C6CFDA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269480" y="2852928"/>
            <a:ext cx="420624" cy="420624"/>
          </a:xfrm>
          <a:prstGeom prst="ellipse">
            <a:avLst/>
          </a:prstGeom>
          <a:solidFill>
            <a:srgbClr val="E0B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E182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843784"/>
            <a:ext cx="3246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7F2"/>
                </a:solidFill>
                <a:latin typeface="Aptos"/>
              </a:rPr>
              <a:t>A symbol of Karnataka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3172968"/>
            <a:ext cx="32461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6CFDA"/>
                </a:solidFill>
                <a:latin typeface="Aptos"/>
              </a:rPr>
              <a:t>Commemorates 50 years since the formation of Karnataka in 1956.</a:t>
            </a:r>
          </a:p>
        </p:txBody>
      </p:sp>
      <p:sp>
        <p:nvSpPr>
          <p:cNvPr id="15" name="Oval 14"/>
          <p:cNvSpPr/>
          <p:nvPr/>
        </p:nvSpPr>
        <p:spPr>
          <a:xfrm>
            <a:off x="7269480" y="4151376"/>
            <a:ext cx="420624" cy="420624"/>
          </a:xfrm>
          <a:prstGeom prst="ellipse">
            <a:avLst/>
          </a:prstGeom>
          <a:solidFill>
            <a:srgbClr val="E0B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E182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4142232"/>
            <a:ext cx="3246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F7F7F2"/>
                </a:solidFill>
                <a:latin typeface="Aptos"/>
              </a:rPr>
              <a:t>A striking landmark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4471416"/>
            <a:ext cx="324612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100" dirty="0">
                <a:solidFill>
                  <a:srgbClr val="F7F7F2"/>
                </a:solidFill>
                <a:latin typeface="Aptos"/>
              </a:rPr>
              <a:t>Built by the Government of Karnataka to mark the golden jubilee of the state’s formation</a:t>
            </a:r>
            <a:endParaRPr sz="1100" b="0" dirty="0">
              <a:solidFill>
                <a:srgbClr val="C6CFD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1828800" cy="1078992"/>
          </a:xfrm>
          <a:prstGeom prst="roundRect">
            <a:avLst/>
          </a:prstGeom>
          <a:solidFill>
            <a:srgbClr val="18273D"/>
          </a:solidFill>
          <a:ln w="10160">
            <a:solidFill>
              <a:srgbClr val="37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554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B453"/>
                </a:solidFill>
                <a:latin typeface="Aptos"/>
              </a:rPr>
              <a:t>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554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7F2"/>
                </a:solidFill>
                <a:latin typeface="Aptos"/>
              </a:rPr>
              <a:t>Belagavi, Karnataka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4160520"/>
            <a:ext cx="1828800" cy="1078992"/>
          </a:xfrm>
          <a:prstGeom prst="roundRect">
            <a:avLst/>
          </a:prstGeom>
          <a:solidFill>
            <a:srgbClr val="18273D"/>
          </a:solidFill>
          <a:ln w="10160">
            <a:solidFill>
              <a:srgbClr val="37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2072" y="4315968"/>
            <a:ext cx="1554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B453"/>
                </a:solidFill>
                <a:latin typeface="Aptos"/>
              </a:rPr>
              <a:t>INAUGURATED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4617720"/>
            <a:ext cx="1554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7F2"/>
                </a:solidFill>
                <a:latin typeface="Aptos"/>
              </a:rPr>
              <a:t>11 October 2012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64024" y="4160520"/>
            <a:ext cx="2011680" cy="1078992"/>
          </a:xfrm>
          <a:prstGeom prst="roundRect">
            <a:avLst/>
          </a:prstGeom>
          <a:solidFill>
            <a:srgbClr val="18273D"/>
          </a:solidFill>
          <a:ln w="10160">
            <a:solidFill>
              <a:srgbClr val="37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01184" y="4315968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B453"/>
                </a:solidFill>
                <a:latin typeface="Aptos"/>
              </a:rPr>
              <a:t>PURPOSE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4" y="4617720"/>
            <a:ext cx="17373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7F2"/>
                </a:solidFill>
                <a:latin typeface="Aptos"/>
              </a:rPr>
              <a:t>Legislative sessions &amp; 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38" y="5614416"/>
            <a:ext cx="10881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C6CFDA"/>
                </a:solidFill>
                <a:latin typeface="Aptos"/>
              </a:rPr>
              <a:t>Suvarna Vidhana </a:t>
            </a:r>
            <a:r>
              <a:rPr sz="1300" b="0" dirty="0" err="1">
                <a:solidFill>
                  <a:srgbClr val="C6CFDA"/>
                </a:solidFill>
                <a:latin typeface="Aptos"/>
              </a:rPr>
              <a:t>Soudha</a:t>
            </a:r>
            <a:r>
              <a:rPr sz="1300" b="0" dirty="0">
                <a:solidFill>
                  <a:srgbClr val="C6CFDA"/>
                </a:solidFill>
                <a:latin typeface="Aptos"/>
              </a:rPr>
              <a:t> connects Belagavi’s identity with the democratic life of Karnataka.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5029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6CFDA"/>
                </a:solidFill>
                <a:latin typeface="Aptos"/>
              </a:rPr>
              <a:t>BELAGAVI • STORY OF A LIVING 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73952"/>
            <a:ext cx="685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E0B453"/>
                </a:solidFill>
                <a:latin typeface="Aptos"/>
              </a:rPr>
              <a:t>16/16</a:t>
            </a:r>
          </a:p>
        </p:txBody>
      </p:sp>
      <p:pic>
        <p:nvPicPr>
          <p:cNvPr id="30" name="Picture 29" descr="Suvarna Soudha BG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118227"/>
            <a:ext cx="5408319" cy="18523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85800" y="2112355"/>
            <a:ext cx="5408318" cy="1838452"/>
          </a:xfrm>
          <a:prstGeom prst="rect">
            <a:avLst/>
          </a:prstGeom>
          <a:noFill/>
          <a:ln w="17780">
            <a:solidFill>
              <a:srgbClr val="E0B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6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FREEDOM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A city that fought for freedom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Belagavi district carries stories of resistance, leadership and India’s national movement.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65760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crop_image6_jpg_0.76_2.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42" y="2084831"/>
            <a:ext cx="3253658" cy="34381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331" y="5590538"/>
            <a:ext cx="33832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D4A64A"/>
                </a:solidFill>
                <a:latin typeface="Aptos"/>
              </a:rPr>
              <a:t>KITTUR RANI CHENNAMMA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4008"/>
            <a:ext cx="33832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A symbol of resistance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24612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_crop_image5_jpg_5.01_2.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62116"/>
            <a:ext cx="2971801" cy="35522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5640774"/>
            <a:ext cx="29718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1924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811006"/>
            <a:ext cx="29718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Indian National Congress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474720" cy="416052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64A"/>
                </a:solidFill>
                <a:latin typeface="Aptos"/>
              </a:rPr>
              <a:t>39th INC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74320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4EFE0"/>
                </a:solidFill>
                <a:latin typeface="Aptos"/>
              </a:rPr>
              <a:t>Belagavi hosted the 39th session of the Indian National Congress in 1924, presided over by Mahatma Gandhi.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27432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7F9FA"/>
                </a:solidFill>
                <a:latin typeface="Aptos"/>
              </a:rPr>
              <a:t>COURAGE
RESISTANCE
NATIONAL MOVEMENT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7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Where nature shapes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The district’s landscapes connect agriculture, forests, hills, rivers and monsoon scenery.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06 / 15</a:t>
            </a:r>
          </a:p>
        </p:txBody>
      </p:sp>
      <p:pic>
        <p:nvPicPr>
          <p:cNvPr id="6" name="Picture 5" descr="_crop_image7_pn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743200" cy="4160520"/>
          </a:xfrm>
          <a:prstGeom prst="rect">
            <a:avLst/>
          </a:prstGeom>
        </p:spPr>
      </p:pic>
      <p:pic>
        <p:nvPicPr>
          <p:cNvPr id="7" name="Picture 6" descr="_crop_image8_jpeg_3.95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874519"/>
            <a:ext cx="2743200" cy="4160520"/>
          </a:xfrm>
          <a:prstGeom prst="rect">
            <a:avLst/>
          </a:prstGeom>
        </p:spPr>
      </p:pic>
      <p:pic>
        <p:nvPicPr>
          <p:cNvPr id="8" name="Picture 7" descr="_crop_image10_png_7.2_2.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74519"/>
            <a:ext cx="48920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4023360"/>
            <a:ext cx="4892040" cy="201168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4343400"/>
            <a:ext cx="42062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64A"/>
                </a:solidFill>
                <a:latin typeface="Aptos"/>
              </a:rPr>
              <a:t>LANDSCAPE → LIVELIHOOD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800600"/>
            <a:ext cx="402336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FE0"/>
                </a:solidFill>
                <a:latin typeface="Aptos"/>
              </a:rPr>
              <a:t>Western Ghats • green hills • rivers • reservoirs • farmland
Seasonal rainfall supports a visibly green rural landscape and water-dependent livelihoods.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8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PEOPLE &amp;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A blend of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Belagavi’s identity is best understood through the everyday mix of language, faith, food and celebration.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07 / 15</a:t>
            </a:r>
          </a:p>
        </p:txBody>
      </p:sp>
      <p:pic>
        <p:nvPicPr>
          <p:cNvPr id="6" name="Picture 5" descr="_crop_image11_pn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502920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874519"/>
            <a:ext cx="5532120" cy="416052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64A"/>
                </a:solidFill>
                <a:latin typeface="Aptos"/>
              </a:rPr>
              <a:t>CULTURAL BLEND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457200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7F9FA"/>
                </a:solidFill>
                <a:latin typeface="Aptos"/>
              </a:defRPr>
            </a:pPr>
            <a:r>
              <a:t>• Kannada, Marathi and other regional influences meet in everyday life.</a:t>
            </a:r>
          </a:p>
          <a:p>
            <a:pPr>
              <a:spcAft>
                <a:spcPts val="700"/>
              </a:spcAft>
              <a:defRPr sz="1500">
                <a:solidFill>
                  <a:srgbClr val="F7F9FA"/>
                </a:solidFill>
                <a:latin typeface="Aptos"/>
              </a:defRPr>
            </a:pPr>
            <a:r>
              <a:t>• Temple festivals, local jatras and Muslim celebrations add to the public cultural calendar.</a:t>
            </a:r>
          </a:p>
          <a:p>
            <a:pPr>
              <a:spcAft>
                <a:spcPts val="700"/>
              </a:spcAft>
              <a:defRPr sz="1500">
                <a:solidFill>
                  <a:srgbClr val="F7F9FA"/>
                </a:solidFill>
                <a:latin typeface="Aptos"/>
              </a:defRPr>
            </a:pPr>
            <a:r>
              <a:t>• Food traditions show the same regional blending.</a:t>
            </a:r>
          </a:p>
          <a:p>
            <a:pPr>
              <a:spcAft>
                <a:spcPts val="700"/>
              </a:spcAft>
              <a:defRPr sz="1500">
                <a:solidFill>
                  <a:srgbClr val="F7F9FA"/>
                </a:solidFill>
                <a:latin typeface="Aptos"/>
              </a:defRPr>
            </a:pPr>
            <a:r>
              <a:t>• Belagavi’s location makes it a natural meeting point between neighbouring states.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532120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64A"/>
                </a:solidFill>
                <a:latin typeface="Aptos"/>
              </a:rPr>
              <a:t>DIVERSITY • COMMUNITY • SHARED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0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9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TRADITIONS &amp; FESTIVALS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Life in festivals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Celebration brings together faith, family, neighbourhoods and local traditions.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08 / 15</a:t>
            </a:r>
          </a:p>
        </p:txBody>
      </p:sp>
      <p:pic>
        <p:nvPicPr>
          <p:cNvPr id="6" name="Picture 5" descr="_crop_image12_jpe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743200" cy="1965960"/>
          </a:xfrm>
          <a:prstGeom prst="rect">
            <a:avLst/>
          </a:prstGeom>
        </p:spPr>
      </p:pic>
      <p:pic>
        <p:nvPicPr>
          <p:cNvPr id="7" name="Picture 6" descr="_crop_image14_png_3.95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874519"/>
            <a:ext cx="2743200" cy="1965960"/>
          </a:xfrm>
          <a:prstGeom prst="rect">
            <a:avLst/>
          </a:prstGeom>
        </p:spPr>
      </p:pic>
      <p:pic>
        <p:nvPicPr>
          <p:cNvPr id="8" name="Picture 7" descr="_crop_image15_jpg_7.2_2.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74519"/>
            <a:ext cx="4892040" cy="1965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069080"/>
            <a:ext cx="2743200" cy="192024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4A64A"/>
                </a:solidFill>
                <a:latin typeface="Aptos"/>
              </a:rPr>
              <a:t>GANESH CHATURTHI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22860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Community celebration &amp; public processions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4069080"/>
            <a:ext cx="2743200" cy="192024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434340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4A64A"/>
                </a:solidFill>
                <a:latin typeface="Aptos"/>
              </a:rPr>
              <a:t>LOCAL JATRAS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754880"/>
            <a:ext cx="22860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Regional fairs, rituals &amp; gathering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069080"/>
            <a:ext cx="4892040" cy="192024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434340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4A64A"/>
                </a:solidFill>
                <a:latin typeface="Aptos"/>
              </a:rPr>
              <a:t>KARU HUNNIME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3891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A traditional rural festival associated with the agricultural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100" b="1" dirty="0">
                <a:solidFill>
                  <a:srgbClr val="D4A64A"/>
                </a:solidFill>
                <a:latin typeface="Aptos"/>
              </a:rPr>
              <a:t>10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A story you can taste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North Karnataka staples meet local specialties and regional cooking traditions.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09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0604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crop_image16_jpeg_0.76_2.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1692"/>
            <a:ext cx="2414016" cy="36254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705855"/>
            <a:ext cx="2331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KUNDA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52159"/>
            <a:ext cx="2331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Famous Belagavi sweet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60604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_crop_image17_png_3.81_2.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041693"/>
            <a:ext cx="2421531" cy="36254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6160" y="5705855"/>
            <a:ext cx="2331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JOLADA ROTTI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852159"/>
            <a:ext cx="2331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Jowar flatbread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60604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_crop_image18_png_6.859999999999999_2.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41692"/>
            <a:ext cx="2421531" cy="35727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5705855"/>
            <a:ext cx="2331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BRINJAL CURRY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852159"/>
            <a:ext cx="23317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Bold local flavours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874519"/>
            <a:ext cx="246888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_crop_image19_jpg_9.91_2.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904" y="1996156"/>
            <a:ext cx="2276856" cy="36182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0" y="5705855"/>
            <a:ext cx="2194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BESAN WADE / JHUNKA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852159"/>
            <a:ext cx="2194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Traditional accompaniment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100" b="1" dirty="0">
                <a:solidFill>
                  <a:srgbClr val="D4A64A"/>
                </a:solidFill>
                <a:latin typeface="Aptos"/>
              </a:rPr>
              <a:t>11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The farmer’s Belagavi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Agriculture connects farms to markets, processing and the wider district economy.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10 / 15</a:t>
            </a:r>
          </a:p>
        </p:txBody>
      </p:sp>
      <p:pic>
        <p:nvPicPr>
          <p:cNvPr id="6" name="Picture 5" descr="_crop_image20_jpe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560320" cy="1874519"/>
          </a:xfrm>
          <a:prstGeom prst="rect">
            <a:avLst/>
          </a:prstGeom>
        </p:spPr>
      </p:pic>
      <p:pic>
        <p:nvPicPr>
          <p:cNvPr id="7" name="Picture 6" descr="_crop_image22_jpeg_3.7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874519"/>
            <a:ext cx="2560320" cy="1874519"/>
          </a:xfrm>
          <a:prstGeom prst="rect">
            <a:avLst/>
          </a:prstGeom>
        </p:spPr>
      </p:pic>
      <p:pic>
        <p:nvPicPr>
          <p:cNvPr id="8" name="Picture 7" descr="_crop_image23_png_6.7_2.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74519"/>
            <a:ext cx="2560320" cy="1874519"/>
          </a:xfrm>
          <a:prstGeom prst="rect">
            <a:avLst/>
          </a:prstGeom>
        </p:spPr>
      </p:pic>
      <p:pic>
        <p:nvPicPr>
          <p:cNvPr id="9" name="Picture 8" descr="_crop_image24_jpeg_9.7_2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874519"/>
            <a:ext cx="2560320" cy="18745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023360"/>
            <a:ext cx="10789920" cy="201168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99669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 i="0">
                <a:solidFill>
                  <a:srgbClr val="D4A64A"/>
                </a:solidFill>
                <a:latin typeface="Aptos"/>
              </a:rPr>
              <a:t>FARMER  →  CROP  →  MARKET  →  INDUSTRY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83480"/>
            <a:ext cx="9692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4EFE0"/>
                </a:solidFill>
                <a:latin typeface="Aptos"/>
              </a:rPr>
              <a:t>Important agricultural activities highlighted in the presentation include sugarcane, tobacco, cotton, jowar, oilseeds and dairy.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1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2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From farms to advanced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Belagavi’s economy combines agriculture with engineering, aerospace, foundries, hydraulics, glass and sugar.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38328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crop_image27_jpeg_0.76_2.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3875"/>
            <a:ext cx="3108960" cy="356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42385"/>
            <a:ext cx="31089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AEROSPACE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52159"/>
            <a:ext cx="31089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Aerospace manufacturing ecosystem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74519"/>
            <a:ext cx="338328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_crop_image28_png_4.71_2.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53875"/>
            <a:ext cx="3108960" cy="35605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0" y="5639846"/>
            <a:ext cx="31089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GLASS 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801445"/>
            <a:ext cx="31089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 dirty="0">
                <a:solidFill>
                  <a:srgbClr val="B7C1C9"/>
                </a:solidFill>
                <a:latin typeface="Aptos"/>
              </a:rPr>
              <a:t>Gold Plus glass manufacturing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874519"/>
            <a:ext cx="3611880" cy="4160520"/>
          </a:xfrm>
          <a:prstGeom prst="roundRect">
            <a:avLst/>
          </a:prstGeom>
          <a:solidFill>
            <a:srgbClr val="1F2B3B"/>
          </a:solidFill>
          <a:ln>
            <a:solidFill>
              <a:srgbClr val="1F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78140" y="5561980"/>
            <a:ext cx="3337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D4A64A"/>
                </a:solidFill>
                <a:latin typeface="Aptos"/>
              </a:rPr>
              <a:t>SUGAR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5750646"/>
            <a:ext cx="3337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B7C1C9"/>
                </a:solidFill>
                <a:latin typeface="Aptos"/>
              </a:rPr>
              <a:t>Large-scale sugar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5138928"/>
            <a:ext cx="29260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1" dirty="0">
                <a:solidFill>
                  <a:srgbClr val="B7C1C9"/>
                </a:solidFill>
                <a:latin typeface="Aptos"/>
              </a:rPr>
              <a:t>24 sugar factories are noted by the Belagavi district administration.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  <p:pic>
        <p:nvPicPr>
          <p:cNvPr id="19" name="Picture 18" descr="image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148841"/>
            <a:ext cx="33375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1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3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FAITH &amp; SHARED HERITAGE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F4EFE0"/>
                </a:solidFill>
                <a:latin typeface="Aptos"/>
              </a:rPr>
              <a:t>Places of faith across the district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Belagavi’s heritage includes temples, Jain monuments, mosques and dargahs.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12 / 15</a:t>
            </a:r>
          </a:p>
        </p:txBody>
      </p:sp>
      <p:pic>
        <p:nvPicPr>
          <p:cNvPr id="6" name="Picture 5" descr="_crop_image29_jp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794" y="1947672"/>
            <a:ext cx="3568228" cy="2331772"/>
          </a:xfrm>
          <a:prstGeom prst="rect">
            <a:avLst/>
          </a:prstGeom>
        </p:spPr>
      </p:pic>
      <p:pic>
        <p:nvPicPr>
          <p:cNvPr id="7" name="Picture 6" descr="_crop_image4_jpg_4.95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958" y="1947672"/>
            <a:ext cx="3451389" cy="23317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E7F25A-1279-EF50-F7AD-5E13545B8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82" y="1947672"/>
            <a:ext cx="4005337" cy="2363786"/>
          </a:xfrm>
          <a:prstGeom prst="rect">
            <a:avLst/>
          </a:prstGeom>
        </p:spPr>
      </p:pic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66E0B447-491B-A938-7E6F-DCA584777A0E}"/>
              </a:ext>
            </a:extLst>
          </p:cNvPr>
          <p:cNvSpPr/>
          <p:nvPr/>
        </p:nvSpPr>
        <p:spPr>
          <a:xfrm>
            <a:off x="422966" y="4856262"/>
            <a:ext cx="4146953" cy="1458848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D5DFE4-E031-AA5E-5CD9-FCF3D57D892B}"/>
              </a:ext>
            </a:extLst>
          </p:cNvPr>
          <p:cNvSpPr txBox="1"/>
          <p:nvPr/>
        </p:nvSpPr>
        <p:spPr>
          <a:xfrm>
            <a:off x="474600" y="5369949"/>
            <a:ext cx="4050006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A </a:t>
            </a:r>
            <a:r>
              <a:rPr lang="en-IN" sz="1400" dirty="0">
                <a:solidFill>
                  <a:srgbClr val="F4EFE0"/>
                </a:solidFill>
                <a:latin typeface="Aptos"/>
              </a:rPr>
              <a:t>famous pilgrimage site in Belagavi district, dedicated to Goddess Yellamma (Renuka Devi), attracting thousands of devotees during the annual Yellamma </a:t>
            </a:r>
            <a:r>
              <a:rPr lang="en-IN" sz="1400" dirty="0" err="1">
                <a:solidFill>
                  <a:srgbClr val="F4EFE0"/>
                </a:solidFill>
                <a:latin typeface="Aptos"/>
              </a:rPr>
              <a:t>Jatra</a:t>
            </a:r>
            <a:r>
              <a:rPr lang="en-IN" sz="1400" dirty="0">
                <a:solidFill>
                  <a:srgbClr val="F4EFE0"/>
                </a:solidFill>
                <a:latin typeface="Aptos"/>
              </a:rPr>
              <a:t>.</a:t>
            </a:r>
          </a:p>
        </p:txBody>
      </p:sp>
      <p:sp>
        <p:nvSpPr>
          <p:cNvPr id="29" name="Rounded Rectangle 9">
            <a:extLst>
              <a:ext uri="{FF2B5EF4-FFF2-40B4-BE49-F238E27FC236}">
                <a16:creationId xmlns:a16="http://schemas.microsoft.com/office/drawing/2014/main" id="{D2C7D53C-7EAD-2B52-E2C3-C90BF1AFB81E}"/>
              </a:ext>
            </a:extLst>
          </p:cNvPr>
          <p:cNvSpPr/>
          <p:nvPr/>
        </p:nvSpPr>
        <p:spPr>
          <a:xfrm>
            <a:off x="4711535" y="4900062"/>
            <a:ext cx="3576487" cy="1458848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FFAEF5-9581-3438-1E44-FB6AEA7D98BE}"/>
              </a:ext>
            </a:extLst>
          </p:cNvPr>
          <p:cNvSpPr txBox="1"/>
          <p:nvPr/>
        </p:nvSpPr>
        <p:spPr>
          <a:xfrm>
            <a:off x="4805353" y="5377819"/>
            <a:ext cx="3304705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F4EFE0"/>
                </a:solidFill>
                <a:latin typeface="Aptos"/>
              </a:rPr>
              <a:t>The supplied image highlights the dargah at </a:t>
            </a:r>
            <a:r>
              <a:rPr sz="1400" b="0" i="0" dirty="0" err="1">
                <a:solidFill>
                  <a:srgbClr val="F4EFE0"/>
                </a:solidFill>
                <a:latin typeface="Aptos"/>
              </a:rPr>
              <a:t>Kudchi</a:t>
            </a:r>
            <a:r>
              <a:rPr sz="1400" b="0" i="0" dirty="0">
                <a:solidFill>
                  <a:srgbClr val="F4EFE0"/>
                </a:solidFill>
                <a:latin typeface="Aptos"/>
              </a:rPr>
              <a:t> as part of the district’s Muslim heritage and pilgrimage landscape.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642271-4FAE-D807-26D7-CA8927BF0FAF}"/>
              </a:ext>
            </a:extLst>
          </p:cNvPr>
          <p:cNvSpPr txBox="1"/>
          <p:nvPr/>
        </p:nvSpPr>
        <p:spPr>
          <a:xfrm>
            <a:off x="5240095" y="4938821"/>
            <a:ext cx="256032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D4A64A"/>
                </a:solidFill>
                <a:latin typeface="Aptos"/>
              </a:rPr>
              <a:t>KUDCHI DARGAH</a:t>
            </a:r>
          </a:p>
        </p:txBody>
      </p:sp>
      <p:sp>
        <p:nvSpPr>
          <p:cNvPr id="37" name="Rounded Rectangle 9">
            <a:extLst>
              <a:ext uri="{FF2B5EF4-FFF2-40B4-BE49-F238E27FC236}">
                <a16:creationId xmlns:a16="http://schemas.microsoft.com/office/drawing/2014/main" id="{86F4555C-445D-4D9E-5E0C-C3AB5FE0C962}"/>
              </a:ext>
            </a:extLst>
          </p:cNvPr>
          <p:cNvSpPr/>
          <p:nvPr/>
        </p:nvSpPr>
        <p:spPr>
          <a:xfrm>
            <a:off x="8418958" y="4880002"/>
            <a:ext cx="3644446" cy="1458848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7B3AF2-5C52-8315-D21E-934EA2261A17}"/>
              </a:ext>
            </a:extLst>
          </p:cNvPr>
          <p:cNvSpPr txBox="1"/>
          <p:nvPr/>
        </p:nvSpPr>
        <p:spPr>
          <a:xfrm>
            <a:off x="8807399" y="5290321"/>
            <a:ext cx="3069076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dirty="0">
                <a:solidFill>
                  <a:srgbClr val="F4EFE0"/>
                </a:solidFill>
                <a:latin typeface="Aptos"/>
              </a:rPr>
              <a:t>The fort is especially notable for the presence of both Hindu and Islamic architectural heritage within the historic complex</a:t>
            </a:r>
            <a:r>
              <a:rPr sz="1300" b="0" i="0" dirty="0">
                <a:solidFill>
                  <a:srgbClr val="F7F9FA"/>
                </a:solidFill>
                <a:latin typeface="Aptos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75CCE7-7074-20CF-9F2A-F61F9FA8B012}"/>
              </a:ext>
            </a:extLst>
          </p:cNvPr>
          <p:cNvSpPr txBox="1"/>
          <p:nvPr/>
        </p:nvSpPr>
        <p:spPr>
          <a:xfrm>
            <a:off x="8961120" y="4917017"/>
            <a:ext cx="256032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D4A64A"/>
                </a:solidFill>
                <a:latin typeface="Aptos"/>
              </a:rPr>
              <a:t>BELAGAVI FORT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8ED57A-9A02-DB55-7C86-0063B2E62BE5}"/>
              </a:ext>
            </a:extLst>
          </p:cNvPr>
          <p:cNvSpPr txBox="1"/>
          <p:nvPr/>
        </p:nvSpPr>
        <p:spPr>
          <a:xfrm>
            <a:off x="528503" y="4868285"/>
            <a:ext cx="3284116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500" b="1" dirty="0">
                <a:solidFill>
                  <a:srgbClr val="D4A64A"/>
                </a:solidFill>
                <a:latin typeface="Aptos"/>
              </a:rPr>
              <a:t>SHRI</a:t>
            </a:r>
            <a:r>
              <a:rPr lang="it-IT" sz="1500" b="1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it-IT" sz="1500" b="1" dirty="0">
                <a:solidFill>
                  <a:srgbClr val="D4A64A"/>
                </a:solidFill>
                <a:latin typeface="Aptos"/>
              </a:rPr>
              <a:t>YELLAMMA</a:t>
            </a:r>
            <a:r>
              <a:rPr lang="it-IT" sz="1500" b="1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it-IT" sz="1500" b="1" dirty="0">
                <a:solidFill>
                  <a:srgbClr val="D4A64A"/>
                </a:solidFill>
                <a:latin typeface="Aptos"/>
              </a:rPr>
              <a:t>DEVI</a:t>
            </a:r>
            <a:r>
              <a:rPr lang="it-IT" sz="1500" b="1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it-IT" sz="1500" b="1" dirty="0">
                <a:solidFill>
                  <a:srgbClr val="D4A64A"/>
                </a:solidFill>
                <a:latin typeface="Aptos"/>
              </a:rPr>
              <a:t>TEMPLE</a:t>
            </a:r>
            <a:r>
              <a:rPr lang="it-IT" sz="1500" b="1" dirty="0">
                <a:solidFill>
                  <a:srgbClr val="FFC000"/>
                </a:solidFill>
                <a:latin typeface="Aptos" panose="020B0004020202020204" pitchFamily="34" charset="0"/>
              </a:rPr>
              <a:t>, </a:t>
            </a:r>
            <a:r>
              <a:rPr lang="it-IT" sz="1500" b="1" dirty="0">
                <a:solidFill>
                  <a:srgbClr val="D4A64A"/>
                </a:solidFill>
                <a:latin typeface="Aptos"/>
              </a:rPr>
              <a:t>SAUNDATTI</a:t>
            </a:r>
            <a:endParaRPr sz="1500" b="1" dirty="0">
              <a:solidFill>
                <a:srgbClr val="D4A64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1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4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TOURISM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A journey through Belagavi district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History, faith, wildlife and waterfalls create a varied tourism circuit.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13 / 15</a:t>
            </a:r>
          </a:p>
        </p:txBody>
      </p:sp>
      <p:pic>
        <p:nvPicPr>
          <p:cNvPr id="6" name="Picture 5" descr="_crop_image30_jp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2514600" cy="1874519"/>
          </a:xfrm>
          <a:prstGeom prst="rect">
            <a:avLst/>
          </a:prstGeom>
        </p:spPr>
      </p:pic>
      <p:pic>
        <p:nvPicPr>
          <p:cNvPr id="7" name="Picture 6" descr="_crop_image32_jpeg_3.65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874519"/>
            <a:ext cx="2514600" cy="1874519"/>
          </a:xfrm>
          <a:prstGeom prst="rect">
            <a:avLst/>
          </a:prstGeom>
        </p:spPr>
      </p:pic>
      <p:pic>
        <p:nvPicPr>
          <p:cNvPr id="8" name="Picture 7" descr="_crop_image33_jpeg_6.6_2.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74519"/>
            <a:ext cx="2514600" cy="1874519"/>
          </a:xfrm>
          <a:prstGeom prst="rect">
            <a:avLst/>
          </a:prstGeom>
        </p:spPr>
      </p:pic>
      <p:pic>
        <p:nvPicPr>
          <p:cNvPr id="9" name="Picture 8" descr="_crop_image34_png_9.55_2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874519"/>
            <a:ext cx="2743200" cy="18745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977639"/>
            <a:ext cx="2514600" cy="205740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42976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4A64A"/>
                </a:solidFill>
                <a:latin typeface="Aptos"/>
              </a:rPr>
              <a:t>KAMALA BASTI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800600"/>
            <a:ext cx="21488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1204 • late Chalukyan style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977639"/>
            <a:ext cx="2514600" cy="205740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42976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4A64A"/>
                </a:solidFill>
                <a:latin typeface="Aptos"/>
              </a:rPr>
              <a:t>GHATAPRABHA BIRD SANCTUARY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800600"/>
            <a:ext cx="21488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Birdlife &amp; wetland landscape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977639"/>
            <a:ext cx="2514600" cy="205740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42976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4A64A"/>
                </a:solidFill>
                <a:latin typeface="Aptos"/>
              </a:rPr>
              <a:t>GODACHINMALKI FALLS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00600"/>
            <a:ext cx="21488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Two-stage waterfall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977639"/>
            <a:ext cx="2743200" cy="205740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5400" y="4297680"/>
            <a:ext cx="23774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4A64A"/>
                </a:solidFill>
                <a:latin typeface="Aptos"/>
              </a:rPr>
              <a:t>GOKAK FALLS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800600"/>
            <a:ext cx="23774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FE0"/>
                </a:solidFill>
                <a:latin typeface="Aptos"/>
              </a:rPr>
              <a:t>Major natural landmark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4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1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5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 • GOKAK 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FE0"/>
                </a:solidFill>
                <a:latin typeface="Aptos"/>
              </a:rPr>
              <a:t>Nature + beauty +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7C1C9"/>
                </a:solidFill>
                <a:latin typeface="Aptos"/>
              </a:rPr>
              <a:t>One of Belagavi district’s signature landscapes, where the Ghataprabha River meets a dramatic rocky gorge.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7C1C9"/>
                </a:solidFill>
                <a:latin typeface="Aptos"/>
              </a:rPr>
              <a:t>14 / 15</a:t>
            </a:r>
          </a:p>
        </p:txBody>
      </p:sp>
      <p:pic>
        <p:nvPicPr>
          <p:cNvPr id="6" name="Picture 5" descr="_crop_image34_pn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66928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29400" y="1874519"/>
            <a:ext cx="4846320" cy="4160520"/>
          </a:xfrm>
          <a:prstGeom prst="roundRect">
            <a:avLst/>
          </a:prstGeom>
          <a:solidFill>
            <a:srgbClr val="182231"/>
          </a:solidFill>
          <a:ln>
            <a:solidFill>
              <a:srgbClr val="18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2286000"/>
            <a:ext cx="2926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D4A64A"/>
                </a:solidFill>
                <a:latin typeface="Aptos"/>
              </a:rPr>
              <a:t>52 METRES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880360"/>
            <a:ext cx="384048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4EFE0"/>
                </a:solidFill>
                <a:latin typeface="Aptos"/>
              </a:rPr>
              <a:t>The Ghataprabha River drops about 52 m over a rocky bed, creating a horseshoe-shaped waterfall.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069080"/>
            <a:ext cx="1188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7F9FA"/>
                </a:solidFill>
                <a:latin typeface="Aptos"/>
              </a:rPr>
              <a:t>1887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050791"/>
            <a:ext cx="2743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7F9FA"/>
                </a:solidFill>
                <a:latin typeface="Aptos"/>
              </a:rPr>
              <a:t>Early hydroelectric generation began here in 1887.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5166360"/>
            <a:ext cx="3749039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B7C1C9"/>
                </a:solidFill>
                <a:latin typeface="Aptos"/>
              </a:rPr>
              <a:t>A landmark where landscape, engineering and tourism meet.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B7C1C9"/>
                </a:solidFill>
                <a:latin typeface="Aptos"/>
              </a:rPr>
              <a:t>BELAGAVI • STORY OF A LIVING 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_image31_jpeg_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27432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D4A64A"/>
                </a:solidFill>
                <a:latin typeface="Aptos"/>
              </a:rPr>
              <a:t>1</a:t>
            </a:r>
            <a:r>
              <a:rPr lang="en-IN" sz="1100" b="1" i="0" dirty="0">
                <a:solidFill>
                  <a:srgbClr val="D4A64A"/>
                </a:solidFill>
                <a:latin typeface="Aptos"/>
              </a:rPr>
              <a:t>6 </a:t>
            </a:r>
            <a:r>
              <a:rPr sz="1100" b="1" i="0" dirty="0">
                <a:solidFill>
                  <a:srgbClr val="D4A64A"/>
                </a:solidFill>
                <a:latin typeface="Aptos"/>
              </a:rPr>
              <a:t>•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77724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FE0"/>
                </a:solidFill>
                <a:latin typeface="Aptos"/>
              </a:rPr>
              <a:t>The story continues.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78638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7F9FA"/>
                </a:solidFill>
                <a:latin typeface="Aptos"/>
              </a:rPr>
              <a:t>Belagavi is more than a place on the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87782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F4EFE0"/>
                </a:solidFill>
                <a:latin typeface="Aptos"/>
              </a:rPr>
              <a:t>It is a living story of history, people, culture, nature, agriculture, industry and a changing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326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64A"/>
                </a:solidFill>
                <a:latin typeface="Aptos"/>
              </a:rPr>
              <a:t>HISTORY  →  CULTURE  →  AGRICULTURE  →  INDUSTRY  → 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27432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7F9FA"/>
                </a:solidFill>
                <a:latin typeface="Aptos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6400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B7C1C9"/>
                </a:solidFill>
                <a:latin typeface="Aptos"/>
              </a:rPr>
              <a:t>Selected factual references: District Belagavi • Karnataka Tourism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F7F9FA"/>
                </a:solidFill>
                <a:latin typeface="Apto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1164</Words>
  <Application>Microsoft Office PowerPoint</Application>
  <PresentationFormat>Widescreen</PresentationFormat>
  <Paragraphs>182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pinjarasif260@gmail.com</cp:lastModifiedBy>
  <cp:revision>8</cp:revision>
  <dcterms:created xsi:type="dcterms:W3CDTF">2013-01-27T09:14:16Z</dcterms:created>
  <dcterms:modified xsi:type="dcterms:W3CDTF">2026-10-09T01:29:35Z</dcterms:modified>
  <cp:category/>
</cp:coreProperties>
</file>